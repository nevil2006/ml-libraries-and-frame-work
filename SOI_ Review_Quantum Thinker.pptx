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1594"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20"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customXml" Target="../customXml/item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inavprakash Selvakumar" userId="3dc1c178d266d0fa" providerId="LiveId" clId="{13BBDA7D-4B1B-4150-A282-FDAF07C2EFFE}"/>
    <pc:docChg chg="modSld">
      <pc:chgData name="Abinavprakash Selvakumar" userId="3dc1c178d266d0fa" providerId="LiveId" clId="{13BBDA7D-4B1B-4150-A282-FDAF07C2EFFE}" dt="2025-11-10T07:39:22.125" v="14" actId="20577"/>
      <pc:docMkLst>
        <pc:docMk/>
      </pc:docMkLst>
      <pc:sldChg chg="modSp mod">
        <pc:chgData name="Abinavprakash Selvakumar" userId="3dc1c178d266d0fa" providerId="LiveId" clId="{13BBDA7D-4B1B-4150-A282-FDAF07C2EFFE}" dt="2025-11-10T07:39:22.125" v="14" actId="20577"/>
        <pc:sldMkLst>
          <pc:docMk/>
          <pc:sldMk cId="0" sldId="256"/>
        </pc:sldMkLst>
        <pc:spChg chg="mod">
          <ac:chgData name="Abinavprakash Selvakumar" userId="3dc1c178d266d0fa" providerId="LiveId" clId="{13BBDA7D-4B1B-4150-A282-FDAF07C2EFFE}" dt="2025-11-10T07:39:22.125" v="14" actId="20577"/>
          <ac:spMkLst>
            <pc:docMk/>
            <pc:sldMk cId="0" sldId="256"/>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D6B968-9307-4FCD-B53D-E94D757EBAC2}" type="datetimeFigureOut">
              <a:rPr lang="en-IN" smtClean="0"/>
              <a:t>10-11-2025</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45AB76E-7194-47E7-A9B6-B48A91EE782F}" type="slidenum">
              <a:rPr lang="en-IN" smtClean="0"/>
              <a:t>‹#›</a:t>
            </a:fld>
            <a:endParaRPr lang="en-IN"/>
          </a:p>
        </p:txBody>
      </p:sp>
    </p:spTree>
    <p:extLst>
      <p:ext uri="{BB962C8B-B14F-4D97-AF65-F5344CB8AC3E}">
        <p14:creationId xmlns:p14="http://schemas.microsoft.com/office/powerpoint/2010/main" val="1908255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r>
              <a:rPr lang="en-US"/>
              <a:t>10 Sep 2025</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10 Sep 2025</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10 Sep 2025</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10 Sep 2025</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10 Sep 2025</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10 Sep 2025</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10 Sep 2025</a:t>
            </a: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10 Sep 2025</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10 Sep 2025</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10 Sep 2025</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10 Sep 2025</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10 Sep 2025</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SoI Student Project Review</a:t>
            </a:r>
          </a:p>
        </p:txBody>
      </p:sp>
      <p:sp>
        <p:nvSpPr>
          <p:cNvPr id="3" name="Subtitle 2"/>
          <p:cNvSpPr>
            <a:spLocks noGrp="1"/>
          </p:cNvSpPr>
          <p:nvPr>
            <p:ph type="subTitle" idx="1"/>
          </p:nvPr>
        </p:nvSpPr>
        <p:spPr/>
        <p:txBody>
          <a:bodyPr>
            <a:normAutofit lnSpcReduction="10000"/>
          </a:bodyPr>
          <a:lstStyle/>
          <a:p>
            <a:r>
              <a:rPr lang="en-US" sz="2800" b="1" i="0" dirty="0">
                <a:solidFill>
                  <a:srgbClr val="000000"/>
                </a:solidFill>
              </a:rPr>
              <a:t>Career Compass</a:t>
            </a:r>
            <a:endParaRPr sz="2800" b="1" i="0" dirty="0">
              <a:solidFill>
                <a:srgbClr val="000000"/>
              </a:solidFill>
            </a:endParaRPr>
          </a:p>
          <a:p>
            <a:pPr lvl="1"/>
            <a:r>
              <a:rPr sz="1800" b="0" i="0" dirty="0">
                <a:solidFill>
                  <a:srgbClr val="000000"/>
                </a:solidFill>
              </a:rPr>
              <a:t>Team</a:t>
            </a:r>
            <a:r>
              <a:rPr sz="1800" b="0" i="0">
                <a:solidFill>
                  <a:srgbClr val="000000"/>
                </a:solidFill>
              </a:rPr>
              <a:t>: </a:t>
            </a:r>
            <a:r>
              <a:rPr lang="en-US" sz="1800">
                <a:solidFill>
                  <a:srgbClr val="000000"/>
                </a:solidFill>
              </a:rPr>
              <a:t>Quantum Thinker</a:t>
            </a:r>
            <a:r>
              <a:rPr sz="1800" b="0" i="0">
                <a:solidFill>
                  <a:srgbClr val="000000"/>
                </a:solidFill>
              </a:rPr>
              <a:t> </a:t>
            </a:r>
            <a:r>
              <a:rPr sz="1800" b="0" i="0" dirty="0">
                <a:solidFill>
                  <a:srgbClr val="000000"/>
                </a:solidFill>
              </a:rPr>
              <a:t>|  Lead</a:t>
            </a:r>
            <a:r>
              <a:rPr sz="1800" b="0" i="0">
                <a:solidFill>
                  <a:srgbClr val="000000"/>
                </a:solidFill>
              </a:rPr>
              <a:t>: N</a:t>
            </a:r>
            <a:r>
              <a:rPr lang="en-US" sz="1800" b="0" i="0">
                <a:solidFill>
                  <a:srgbClr val="000000"/>
                </a:solidFill>
              </a:rPr>
              <a:t>evil J</a:t>
            </a:r>
            <a:endParaRPr sz="1800" b="0" i="0" dirty="0">
              <a:solidFill>
                <a:srgbClr val="000000"/>
              </a:solidFill>
            </a:endParaRPr>
          </a:p>
          <a:p>
            <a:pPr lvl="1"/>
            <a:r>
              <a:rPr sz="1800" b="0" i="0" dirty="0">
                <a:solidFill>
                  <a:srgbClr val="000000"/>
                </a:solidFill>
              </a:rPr>
              <a:t>Members: </a:t>
            </a:r>
            <a:r>
              <a:rPr lang="en-US" sz="1800" dirty="0" err="1">
                <a:solidFill>
                  <a:srgbClr val="000000"/>
                </a:solidFill>
              </a:rPr>
              <a:t>Hariharann</a:t>
            </a:r>
            <a:r>
              <a:rPr lang="en-US" sz="1800" dirty="0">
                <a:solidFill>
                  <a:srgbClr val="000000"/>
                </a:solidFill>
              </a:rPr>
              <a:t> R S</a:t>
            </a:r>
            <a:r>
              <a:rPr sz="1800" b="0" i="0" dirty="0">
                <a:solidFill>
                  <a:srgbClr val="000000"/>
                </a:solidFill>
              </a:rPr>
              <a:t>,</a:t>
            </a:r>
            <a:r>
              <a:rPr lang="en-US" sz="1800" dirty="0">
                <a:solidFill>
                  <a:schemeClr val="tx1"/>
                </a:solidFill>
              </a:rPr>
              <a:t> </a:t>
            </a:r>
            <a:r>
              <a:rPr lang="en-US" sz="1800" dirty="0" err="1">
                <a:solidFill>
                  <a:schemeClr val="tx1"/>
                </a:solidFill>
              </a:rPr>
              <a:t>AbinavPrakash</a:t>
            </a:r>
            <a:r>
              <a:rPr lang="en-US" sz="1800" dirty="0">
                <a:solidFill>
                  <a:schemeClr val="tx1"/>
                </a:solidFill>
              </a:rPr>
              <a:t> </a:t>
            </a:r>
            <a:r>
              <a:rPr lang="en-US" sz="1800" dirty="0" err="1">
                <a:solidFill>
                  <a:schemeClr val="tx1"/>
                </a:solidFill>
              </a:rPr>
              <a:t>S,Ajay</a:t>
            </a:r>
            <a:r>
              <a:rPr lang="en-US" sz="1800" dirty="0">
                <a:solidFill>
                  <a:schemeClr val="tx1"/>
                </a:solidFill>
              </a:rPr>
              <a:t> </a:t>
            </a:r>
            <a:r>
              <a:rPr lang="en-US" sz="1800" dirty="0" err="1">
                <a:solidFill>
                  <a:schemeClr val="tx1"/>
                </a:solidFill>
              </a:rPr>
              <a:t>S,Gunal</a:t>
            </a:r>
            <a:r>
              <a:rPr lang="en-US" sz="1800" dirty="0">
                <a:solidFill>
                  <a:schemeClr val="tx1"/>
                </a:solidFill>
              </a:rPr>
              <a:t> P</a:t>
            </a:r>
            <a:endParaRPr sz="1800" b="0" i="0" dirty="0">
              <a:solidFill>
                <a:srgbClr val="000000"/>
              </a:solidFill>
            </a:endParaRPr>
          </a:p>
          <a:p>
            <a:pPr lvl="1"/>
            <a:r>
              <a:rPr sz="1600" b="0" i="0" dirty="0">
                <a:solidFill>
                  <a:srgbClr val="000000"/>
                </a:solidFill>
              </a:rPr>
              <a:t>SoI Mentor: </a:t>
            </a:r>
            <a:r>
              <a:rPr lang="en-US" sz="1600" dirty="0">
                <a:solidFill>
                  <a:schemeClr val="tx1"/>
                </a:solidFill>
              </a:rPr>
              <a:t>Srinithi</a:t>
            </a:r>
            <a:r>
              <a:rPr sz="1600" b="0" i="0" dirty="0">
                <a:solidFill>
                  <a:srgbClr val="000000"/>
                </a:solidFill>
              </a:rPr>
              <a:t> | </a:t>
            </a:r>
            <a:r>
              <a:rPr lang="en-IN" sz="1600" b="0" i="0" dirty="0">
                <a:solidFill>
                  <a:srgbClr val="000000"/>
                </a:solidFill>
              </a:rPr>
              <a:t>SoI Vertical: AD </a:t>
            </a:r>
            <a:r>
              <a:rPr sz="1600" b="0" i="0" dirty="0">
                <a:solidFill>
                  <a:srgbClr val="000000"/>
                </a:solidFill>
              </a:rPr>
              <a:t>|</a:t>
            </a:r>
            <a:endParaRPr lang="en-IN" sz="1600" b="0" i="0" dirty="0">
              <a:solidFill>
                <a:srgbClr val="000000"/>
              </a:solidFill>
            </a:endParaRPr>
          </a:p>
          <a:p>
            <a:pPr lvl="1"/>
            <a:r>
              <a:rPr sz="1600" b="0" i="0" dirty="0">
                <a:solidFill>
                  <a:srgbClr val="000000"/>
                </a:solidFill>
              </a:rPr>
              <a:t> Cohort/Batch: </a:t>
            </a:r>
            <a:r>
              <a:rPr lang="en-US" sz="1600" dirty="0">
                <a:solidFill>
                  <a:srgbClr val="000000"/>
                </a:solidFill>
              </a:rPr>
              <a:t>2023-27</a:t>
            </a:r>
            <a:endParaRPr sz="1600" b="0" i="0" dirty="0">
              <a:solidFill>
                <a:srgbClr val="000000"/>
              </a:solidFill>
            </a:endParaRPr>
          </a:p>
        </p:txBody>
      </p:sp>
      <p:sp>
        <p:nvSpPr>
          <p:cNvPr id="4" name="Date Placeholder 3">
            <a:extLst>
              <a:ext uri="{FF2B5EF4-FFF2-40B4-BE49-F238E27FC236}">
                <a16:creationId xmlns:a16="http://schemas.microsoft.com/office/drawing/2014/main" id="{D5D4F345-D588-019F-33ED-31300B04255A}"/>
              </a:ext>
            </a:extLst>
          </p:cNvPr>
          <p:cNvSpPr>
            <a:spLocks noGrp="1"/>
          </p:cNvSpPr>
          <p:nvPr>
            <p:ph type="dt" sz="half" idx="10"/>
          </p:nvPr>
        </p:nvSpPr>
        <p:spPr/>
        <p:txBody>
          <a:bodyPr/>
          <a:lstStyle/>
          <a:p>
            <a:r>
              <a:rPr lang="en-US"/>
              <a:t>10 Sep 2025</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How to Use This Template</a:t>
            </a:r>
          </a:p>
        </p:txBody>
      </p:sp>
      <p:sp>
        <p:nvSpPr>
          <p:cNvPr id="3" name="Content Placeholder 2"/>
          <p:cNvSpPr>
            <a:spLocks noGrp="1"/>
          </p:cNvSpPr>
          <p:nvPr>
            <p:ph idx="1"/>
          </p:nvPr>
        </p:nvSpPr>
        <p:spPr/>
        <p:txBody>
          <a:bodyPr>
            <a:normAutofit fontScale="77500" lnSpcReduction="20000"/>
          </a:bodyPr>
          <a:lstStyle/>
          <a:p>
            <a:r>
              <a:rPr dirty="0"/>
              <a:t>Replace bracketed text with your team’s details.</a:t>
            </a:r>
          </a:p>
          <a:p>
            <a:r>
              <a:rPr dirty="0"/>
              <a:t>Keep the entire deck to a maximum of 10 slides including appendix.</a:t>
            </a:r>
          </a:p>
          <a:p>
            <a:r>
              <a:rPr dirty="0"/>
              <a:t>Use clear, readable visuals; avoid dense paragraphs.</a:t>
            </a:r>
          </a:p>
          <a:p>
            <a:r>
              <a:rPr dirty="0"/>
              <a:t>Where a table is provided, fill it—do not delete the structure.</a:t>
            </a:r>
          </a:p>
          <a:p>
            <a:r>
              <a:rPr dirty="0"/>
              <a:t>Limit the problem description to ≤ 200 words.</a:t>
            </a:r>
          </a:p>
          <a:p>
            <a:r>
              <a:rPr dirty="0"/>
              <a:t>Cite sources in the References slide (APA/IEEE are acceptable).</a:t>
            </a:r>
          </a:p>
          <a:p>
            <a:r>
              <a:rPr dirty="0"/>
              <a:t>Name your file: </a:t>
            </a:r>
            <a:r>
              <a:rPr dirty="0" err="1"/>
              <a:t>SoI_Review</a:t>
            </a:r>
            <a:r>
              <a:rPr dirty="0"/>
              <a:t>_&lt;</a:t>
            </a:r>
            <a:r>
              <a:rPr dirty="0" err="1"/>
              <a:t>TeamName</a:t>
            </a:r>
            <a:r>
              <a:rPr dirty="0"/>
              <a:t>&gt;_&lt;</a:t>
            </a:r>
            <a:r>
              <a:rPr lang="en-IN" dirty="0" err="1"/>
              <a:t>XXSOILabCode</a:t>
            </a:r>
            <a:r>
              <a:rPr dirty="0"/>
              <a:t>&gt;_&lt;Date&gt;.pptx</a:t>
            </a:r>
          </a:p>
        </p:txBody>
      </p:sp>
      <p:sp>
        <p:nvSpPr>
          <p:cNvPr id="4" name="Date Placeholder 3">
            <a:extLst>
              <a:ext uri="{FF2B5EF4-FFF2-40B4-BE49-F238E27FC236}">
                <a16:creationId xmlns:a16="http://schemas.microsoft.com/office/drawing/2014/main" id="{05145A5E-AC3C-0F07-FA75-A7FB2D36B10F}"/>
              </a:ext>
            </a:extLst>
          </p:cNvPr>
          <p:cNvSpPr>
            <a:spLocks noGrp="1"/>
          </p:cNvSpPr>
          <p:nvPr>
            <p:ph type="dt" sz="half" idx="10"/>
          </p:nvPr>
        </p:nvSpPr>
        <p:spPr/>
        <p:txBody>
          <a:bodyPr/>
          <a:lstStyle/>
          <a:p>
            <a:r>
              <a:rPr lang="en-US"/>
              <a:t>10 Sep 2025</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Problem &amp; End User Identification</a:t>
            </a:r>
          </a:p>
        </p:txBody>
      </p:sp>
      <p:sp>
        <p:nvSpPr>
          <p:cNvPr id="3" name="Content Placeholder 2"/>
          <p:cNvSpPr>
            <a:spLocks noGrp="1"/>
          </p:cNvSpPr>
          <p:nvPr>
            <p:ph idx="1"/>
          </p:nvPr>
        </p:nvSpPr>
        <p:spPr/>
        <p:txBody>
          <a:bodyPr>
            <a:normAutofit fontScale="47500" lnSpcReduction="20000"/>
          </a:bodyPr>
          <a:lstStyle/>
          <a:p>
            <a:r>
              <a:rPr lang="en-US" dirty="0"/>
              <a:t>All students face major confusion in choosing the right tech career path amid AI-driven job disruptions. Despite thousands of online resources, most students lack personalized guidance that links their unique skills and interests to real market demand. Traditional career counseling is generic, outdated, or unaffordable, leaving students anxious and underprepared for emerging roles like AI Engineer, Data Scientist, or Frontend Developer.</a:t>
            </a:r>
            <a:br>
              <a:rPr lang="en-US" dirty="0"/>
            </a:br>
            <a:r>
              <a:rPr lang="en-US" dirty="0"/>
              <a:t>This leads to poor career decisions, skill gaps, and low employability. The challenge is to create an integrated, accessible solution that personalizes career discovery, learning roadmaps, and industry connection for every student.</a:t>
            </a:r>
          </a:p>
          <a:p>
            <a:pPr marL="0" indent="0">
              <a:buNone/>
            </a:pPr>
            <a:endParaRPr lang="en-US" dirty="0"/>
          </a:p>
          <a:p>
            <a:r>
              <a:rPr lang="en-US" b="1" dirty="0"/>
              <a:t>Target End-User:</a:t>
            </a:r>
            <a:br>
              <a:rPr lang="en-US" dirty="0"/>
            </a:br>
            <a:r>
              <a:rPr lang="en-US" dirty="0"/>
              <a:t>All students (primarily in AI, Data Science, and Computer Science) from Tier-2/Tier-3 colleges seeking clear direction and skill alignment for tech careers.</a:t>
            </a:r>
          </a:p>
          <a:p>
            <a:endParaRPr lang="en-US" dirty="0"/>
          </a:p>
          <a:p>
            <a:pPr marL="0" indent="0">
              <a:buNone/>
            </a:pPr>
            <a:r>
              <a:rPr lang="en-US" b="1" dirty="0"/>
              <a:t>       Evidence/Insight:</a:t>
            </a:r>
            <a:endParaRPr lang="en-US" dirty="0"/>
          </a:p>
          <a:p>
            <a:r>
              <a:rPr lang="en-US" dirty="0"/>
              <a:t>90% of Indian students make career decisions without expert guidance.</a:t>
            </a:r>
          </a:p>
          <a:p>
            <a:r>
              <a:rPr lang="en-US" dirty="0"/>
              <a:t>Entry-level tech hiring has dropped by 90% in major IT firms due to AI automation.</a:t>
            </a:r>
          </a:p>
          <a:p>
            <a:r>
              <a:rPr lang="en-US" dirty="0"/>
              <a:t>81% of students report confusion or indecision about their future career paths.</a:t>
            </a:r>
          </a:p>
          <a:p>
            <a:pPr marL="0" indent="0">
              <a:buNone/>
            </a:pPr>
            <a:br>
              <a:rPr lang="en-US" dirty="0"/>
            </a:br>
            <a:endParaRPr lang="en-US" dirty="0"/>
          </a:p>
          <a:p>
            <a:pPr>
              <a:defRPr sz="1800"/>
            </a:pPr>
            <a:endParaRPr lang="en-US" dirty="0"/>
          </a:p>
          <a:p>
            <a:pPr marL="0" indent="0">
              <a:buNone/>
            </a:pPr>
            <a:endParaRPr dirty="0"/>
          </a:p>
        </p:txBody>
      </p:sp>
      <p:sp>
        <p:nvSpPr>
          <p:cNvPr id="4" name="Date Placeholder 3">
            <a:extLst>
              <a:ext uri="{FF2B5EF4-FFF2-40B4-BE49-F238E27FC236}">
                <a16:creationId xmlns:a16="http://schemas.microsoft.com/office/drawing/2014/main" id="{FF211C09-4453-61F4-3C58-BFFA37015E64}"/>
              </a:ext>
            </a:extLst>
          </p:cNvPr>
          <p:cNvSpPr>
            <a:spLocks noGrp="1"/>
          </p:cNvSpPr>
          <p:nvPr>
            <p:ph type="dt" sz="half" idx="10"/>
          </p:nvPr>
        </p:nvSpPr>
        <p:spPr/>
        <p:txBody>
          <a:bodyPr/>
          <a:lstStyle/>
          <a:p>
            <a:r>
              <a:rPr lang="en-US"/>
              <a:t>10 Sep 2025</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Problem Description</a:t>
            </a:r>
          </a:p>
        </p:txBody>
      </p:sp>
      <p:sp>
        <p:nvSpPr>
          <p:cNvPr id="3" name="Content Placeholder 2"/>
          <p:cNvSpPr>
            <a:spLocks noGrp="1"/>
          </p:cNvSpPr>
          <p:nvPr>
            <p:ph idx="1"/>
          </p:nvPr>
        </p:nvSpPr>
        <p:spPr/>
        <p:txBody>
          <a:bodyPr/>
          <a:lstStyle/>
          <a:p>
            <a:pPr>
              <a:lnSpc>
                <a:spcPct val="150000"/>
              </a:lnSpc>
            </a:pPr>
            <a:r>
              <a:rPr lang="en-US" sz="1800" dirty="0"/>
              <a:t>Students and graduates often struggle to identify the right career path due to the absence of personalized and reliable guidance. Most rely on generic career portals or outdated counseling methods that don’t account for individual skills, interests, and job market trends. This leads to poor career satisfaction, wasted years in mismatched roles, and skill-job misalignment.</a:t>
            </a:r>
            <a:br>
              <a:rPr lang="en-US" sz="1800" dirty="0"/>
            </a:br>
            <a:r>
              <a:rPr lang="en-US" sz="1800" b="1" dirty="0" err="1"/>
              <a:t>CareerCompass</a:t>
            </a:r>
            <a:r>
              <a:rPr lang="en-US" sz="1800" dirty="0"/>
              <a:t> aims to solve this by offering an </a:t>
            </a:r>
            <a:r>
              <a:rPr lang="en-US" sz="1800" b="1" dirty="0"/>
              <a:t>AI-powered platform</a:t>
            </a:r>
            <a:r>
              <a:rPr lang="en-US" sz="1800" dirty="0"/>
              <a:t> that analyzes user interests, academic background, and market data to recommend ideal career paths, courses, and upskilling opportunities. It acts as a </a:t>
            </a:r>
            <a:r>
              <a:rPr lang="en-US" sz="1800" b="1" dirty="0"/>
              <a:t>virtual career advisor</a:t>
            </a:r>
            <a:r>
              <a:rPr lang="en-US" sz="1800" dirty="0"/>
              <a:t>, reducing confusion, saving decision-making time, and improving employability outcomes.</a:t>
            </a:r>
            <a:endParaRPr sz="1800" b="0" i="0" dirty="0">
              <a:solidFill>
                <a:srgbClr val="000000"/>
              </a:solidFill>
            </a:endParaRPr>
          </a:p>
        </p:txBody>
      </p:sp>
      <p:sp>
        <p:nvSpPr>
          <p:cNvPr id="4" name="Date Placeholder 3">
            <a:extLst>
              <a:ext uri="{FF2B5EF4-FFF2-40B4-BE49-F238E27FC236}">
                <a16:creationId xmlns:a16="http://schemas.microsoft.com/office/drawing/2014/main" id="{CBAC7CB9-EDB8-F2C3-9D5E-850BFD18318F}"/>
              </a:ext>
            </a:extLst>
          </p:cNvPr>
          <p:cNvSpPr>
            <a:spLocks noGrp="1"/>
          </p:cNvSpPr>
          <p:nvPr>
            <p:ph type="dt" sz="half" idx="10"/>
          </p:nvPr>
        </p:nvSpPr>
        <p:spPr/>
        <p:txBody>
          <a:bodyPr/>
          <a:lstStyle/>
          <a:p>
            <a:r>
              <a:rPr lang="en-US"/>
              <a:t>10 Sep 2025</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Literature Survey (Research)</a:t>
            </a:r>
          </a:p>
        </p:txBody>
      </p:sp>
      <p:graphicFrame>
        <p:nvGraphicFramePr>
          <p:cNvPr id="3" name="Table 2"/>
          <p:cNvGraphicFramePr>
            <a:graphicFrameLocks noGrp="1"/>
          </p:cNvGraphicFramePr>
          <p:nvPr>
            <p:extLst>
              <p:ext uri="{D42A27DB-BD31-4B8C-83A1-F6EECF244321}">
                <p14:modId xmlns:p14="http://schemas.microsoft.com/office/powerpoint/2010/main" val="980519863"/>
              </p:ext>
            </p:extLst>
          </p:nvPr>
        </p:nvGraphicFramePr>
        <p:xfrm>
          <a:off x="457200" y="1144270"/>
          <a:ext cx="8229600" cy="548640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609600">
                <a:tc>
                  <a:txBody>
                    <a:bodyPr/>
                    <a:lstStyle/>
                    <a:p>
                      <a:r>
                        <a:rPr b="1"/>
                        <a:t>Source (APA/IEEE)</a:t>
                      </a:r>
                    </a:p>
                  </a:txBody>
                  <a:tcPr/>
                </a:tc>
                <a:tc>
                  <a:txBody>
                    <a:bodyPr/>
                    <a:lstStyle/>
                    <a:p>
                      <a:r>
                        <a:rPr b="1"/>
                        <a:t>Year</a:t>
                      </a:r>
                    </a:p>
                  </a:txBody>
                  <a:tcPr/>
                </a:tc>
                <a:tc>
                  <a:txBody>
                    <a:bodyPr/>
                    <a:lstStyle/>
                    <a:p>
                      <a:r>
                        <a:rPr b="1"/>
                        <a:t>Key Insight / Method</a:t>
                      </a:r>
                    </a:p>
                  </a:txBody>
                  <a:tcPr/>
                </a:tc>
                <a:tc>
                  <a:txBody>
                    <a:bodyPr/>
                    <a:lstStyle/>
                    <a:p>
                      <a:r>
                        <a:rPr b="1"/>
                        <a:t>Gap Relevant to Our Problem</a:t>
                      </a:r>
                    </a:p>
                  </a:txBody>
                  <a:tcPr/>
                </a:tc>
                <a:extLst>
                  <a:ext uri="{0D108BD9-81ED-4DB2-BD59-A6C34878D82A}">
                    <a16:rowId xmlns:a16="http://schemas.microsoft.com/office/drawing/2014/main" val="10000"/>
                  </a:ext>
                </a:extLst>
              </a:tr>
              <a:tr h="0">
                <a:tc>
                  <a:txBody>
                    <a:bodyPr/>
                    <a:lstStyle/>
                    <a:p>
                      <a:r>
                        <a:rPr lang="en-US" dirty="0"/>
                        <a:t>M. Sharma et al., “AI-Powered Career Recommendation Systems,” </a:t>
                      </a:r>
                      <a:r>
                        <a:rPr lang="en-US" i="1" dirty="0"/>
                        <a:t>IEEE Access</a:t>
                      </a:r>
                      <a:endParaRPr dirty="0"/>
                    </a:p>
                  </a:txBody>
                  <a:tcPr/>
                </a:tc>
                <a:tc>
                  <a:txBody>
                    <a:bodyPr/>
                    <a:lstStyle/>
                    <a:p>
                      <a:r>
                        <a:rPr dirty="0"/>
                        <a:t>[</a:t>
                      </a:r>
                      <a:r>
                        <a:rPr lang="en-US" dirty="0"/>
                        <a:t>2023</a:t>
                      </a:r>
                      <a:r>
                        <a:rPr dirty="0"/>
                        <a:t>]</a:t>
                      </a:r>
                    </a:p>
                  </a:txBody>
                  <a:tcPr/>
                </a:tc>
                <a:tc>
                  <a:txBody>
                    <a:bodyPr/>
                    <a:lstStyle/>
                    <a:p>
                      <a:pPr>
                        <a:buNone/>
                      </a:pPr>
                      <a:r>
                        <a:rPr lang="en-US" dirty="0"/>
                        <a:t>Used ML algorithms to suggest jobs based on resumes and skill patterns.</a:t>
                      </a:r>
                    </a:p>
                  </a:txBody>
                  <a:tcPr anchor="ctr"/>
                </a:tc>
                <a:tc>
                  <a:txBody>
                    <a:bodyPr/>
                    <a:lstStyle/>
                    <a:p>
                      <a:r>
                        <a:rPr lang="en-US" dirty="0"/>
                        <a:t>Lacked psychometric evaluation and user feedback integration.</a:t>
                      </a:r>
                      <a:endParaRPr dirty="0"/>
                    </a:p>
                  </a:txBody>
                  <a:tcPr/>
                </a:tc>
                <a:extLst>
                  <a:ext uri="{0D108BD9-81ED-4DB2-BD59-A6C34878D82A}">
                    <a16:rowId xmlns:a16="http://schemas.microsoft.com/office/drawing/2014/main" val="10001"/>
                  </a:ext>
                </a:extLst>
              </a:tr>
              <a:tr h="609600">
                <a:tc>
                  <a:txBody>
                    <a:bodyPr/>
                    <a:lstStyle/>
                    <a:p>
                      <a:r>
                        <a:rPr lang="en-US" dirty="0"/>
                        <a:t>S. Patel, “Personalized Learning Systems Using NLP,” </a:t>
                      </a:r>
                      <a:r>
                        <a:rPr lang="en-US" i="1" dirty="0"/>
                        <a:t>Elsevier</a:t>
                      </a:r>
                      <a:endParaRPr dirty="0"/>
                    </a:p>
                  </a:txBody>
                  <a:tcPr/>
                </a:tc>
                <a:tc>
                  <a:txBody>
                    <a:bodyPr/>
                    <a:lstStyle/>
                    <a:p>
                      <a:r>
                        <a:rPr dirty="0"/>
                        <a:t>[</a:t>
                      </a:r>
                      <a:r>
                        <a:rPr lang="en-US" dirty="0"/>
                        <a:t>2022</a:t>
                      </a:r>
                      <a:r>
                        <a:rPr dirty="0"/>
                        <a:t>]</a:t>
                      </a:r>
                    </a:p>
                  </a:txBody>
                  <a:tcPr/>
                </a:tc>
                <a:tc>
                  <a:txBody>
                    <a:bodyPr/>
                    <a:lstStyle/>
                    <a:p>
                      <a:pPr>
                        <a:buNone/>
                      </a:pPr>
                      <a:r>
                        <a:rPr lang="en-US" dirty="0"/>
                        <a:t>Applied NLP to analyze learner preferences.</a:t>
                      </a:r>
                    </a:p>
                  </a:txBody>
                  <a:tcPr anchor="ctr"/>
                </a:tc>
                <a:tc>
                  <a:txBody>
                    <a:bodyPr/>
                    <a:lstStyle/>
                    <a:p>
                      <a:r>
                        <a:rPr lang="en-US" dirty="0"/>
                        <a:t>Not tailored for career path mapping.</a:t>
                      </a:r>
                      <a:endParaRPr dirty="0"/>
                    </a:p>
                  </a:txBody>
                  <a:tcPr/>
                </a:tc>
                <a:extLst>
                  <a:ext uri="{0D108BD9-81ED-4DB2-BD59-A6C34878D82A}">
                    <a16:rowId xmlns:a16="http://schemas.microsoft.com/office/drawing/2014/main" val="10002"/>
                  </a:ext>
                </a:extLst>
              </a:tr>
              <a:tr h="609600">
                <a:tc>
                  <a:txBody>
                    <a:bodyPr/>
                    <a:lstStyle/>
                    <a:p>
                      <a:r>
                        <a:rPr lang="en-IN" dirty="0"/>
                        <a:t>LinkedIn, </a:t>
                      </a:r>
                      <a:r>
                        <a:rPr lang="en-IN" i="1" dirty="0"/>
                        <a:t>Skills Graph Whitepaper</a:t>
                      </a:r>
                      <a:endParaRPr dirty="0"/>
                    </a:p>
                  </a:txBody>
                  <a:tcPr/>
                </a:tc>
                <a:tc>
                  <a:txBody>
                    <a:bodyPr/>
                    <a:lstStyle/>
                    <a:p>
                      <a:r>
                        <a:rPr dirty="0"/>
                        <a:t>[</a:t>
                      </a:r>
                      <a:r>
                        <a:rPr lang="en-US" dirty="0"/>
                        <a:t>2023</a:t>
                      </a:r>
                      <a:r>
                        <a:rPr dirty="0"/>
                        <a:t>]</a:t>
                      </a:r>
                    </a:p>
                  </a:txBody>
                  <a:tcPr/>
                </a:tc>
                <a:tc>
                  <a:txBody>
                    <a:bodyPr/>
                    <a:lstStyle/>
                    <a:p>
                      <a:pPr>
                        <a:buNone/>
                      </a:pPr>
                      <a:r>
                        <a:rPr lang="en-US" dirty="0"/>
                        <a:t>Built AI-based connections</a:t>
                      </a:r>
                    </a:p>
                  </a:txBody>
                  <a:tcPr anchor="ctr"/>
                </a:tc>
                <a:tc>
                  <a:txBody>
                    <a:bodyPr/>
                    <a:lstStyle/>
                    <a:p>
                      <a:r>
                        <a:rPr lang="en-IN" dirty="0"/>
                        <a:t>Does not address personalized </a:t>
                      </a:r>
                      <a:endParaRPr dirty="0"/>
                    </a:p>
                  </a:txBody>
                  <a:tcPr/>
                </a:tc>
                <a:extLst>
                  <a:ext uri="{0D108BD9-81ED-4DB2-BD59-A6C34878D82A}">
                    <a16:rowId xmlns:a16="http://schemas.microsoft.com/office/drawing/2014/main" val="10003"/>
                  </a:ext>
                </a:extLst>
              </a:tr>
              <a:tr h="609600">
                <a:tc>
                  <a:txBody>
                    <a:bodyPr/>
                    <a:lstStyle/>
                    <a:p>
                      <a:pPr>
                        <a:buNone/>
                      </a:pPr>
                      <a:r>
                        <a:rPr lang="en-IN" dirty="0"/>
                        <a:t>IBM Watson Career Coach</a:t>
                      </a:r>
                    </a:p>
                  </a:txBody>
                  <a:tcPr anchor="ctr"/>
                </a:tc>
                <a:tc>
                  <a:txBody>
                    <a:bodyPr/>
                    <a:lstStyle/>
                    <a:p>
                      <a:r>
                        <a:rPr dirty="0"/>
                        <a:t>[</a:t>
                      </a:r>
                      <a:r>
                        <a:rPr lang="en-US" dirty="0"/>
                        <a:t>2024]</a:t>
                      </a:r>
                      <a:endParaRPr dirty="0"/>
                    </a:p>
                  </a:txBody>
                  <a:tcPr/>
                </a:tc>
                <a:tc>
                  <a:txBody>
                    <a:bodyPr/>
                    <a:lstStyle/>
                    <a:p>
                      <a:pPr>
                        <a:buNone/>
                      </a:pPr>
                      <a:r>
                        <a:rPr lang="en-IN" dirty="0"/>
                        <a:t>Provided AI-driven career chat</a:t>
                      </a:r>
                    </a:p>
                  </a:txBody>
                  <a:tcPr anchor="ctr"/>
                </a:tc>
                <a:tc>
                  <a:txBody>
                    <a:bodyPr/>
                    <a:lstStyle/>
                    <a:p>
                      <a:r>
                        <a:rPr lang="en-US" dirty="0"/>
                        <a:t>Proprietary and limited</a:t>
                      </a:r>
                      <a:endParaRPr dirty="0"/>
                    </a:p>
                  </a:txBody>
                  <a:tcPr/>
                </a:tc>
                <a:extLst>
                  <a:ext uri="{0D108BD9-81ED-4DB2-BD59-A6C34878D82A}">
                    <a16:rowId xmlns:a16="http://schemas.microsoft.com/office/drawing/2014/main" val="10004"/>
                  </a:ext>
                </a:extLst>
              </a:tr>
              <a:tr h="609600">
                <a:tc>
                  <a:txBody>
                    <a:bodyPr/>
                    <a:lstStyle/>
                    <a:p>
                      <a:r>
                        <a:rPr lang="en-US" dirty="0"/>
                        <a:t>“AI for Education Guidance Systems,” </a:t>
                      </a:r>
                      <a:r>
                        <a:rPr lang="en-US" i="1" dirty="0"/>
                        <a:t>Springer AI Review</a:t>
                      </a:r>
                      <a:endParaRPr dirty="0"/>
                    </a:p>
                  </a:txBody>
                  <a:tcPr/>
                </a:tc>
                <a:tc>
                  <a:txBody>
                    <a:bodyPr/>
                    <a:lstStyle/>
                    <a:p>
                      <a:r>
                        <a:rPr dirty="0"/>
                        <a:t>[</a:t>
                      </a:r>
                      <a:r>
                        <a:rPr lang="en-US" dirty="0"/>
                        <a:t>2023</a:t>
                      </a:r>
                      <a:r>
                        <a:rPr dirty="0"/>
                        <a:t>]</a:t>
                      </a:r>
                    </a:p>
                  </a:txBody>
                  <a:tcPr/>
                </a:tc>
                <a:tc>
                  <a:txBody>
                    <a:bodyPr/>
                    <a:lstStyle/>
                    <a:p>
                      <a:r>
                        <a:rPr lang="en-IN" dirty="0"/>
                        <a:t>Discussed hybrid models</a:t>
                      </a:r>
                      <a:endParaRPr dirty="0"/>
                    </a:p>
                  </a:txBody>
                  <a:tcPr/>
                </a:tc>
                <a:tc>
                  <a:txBody>
                    <a:bodyPr/>
                    <a:lstStyle/>
                    <a:p>
                      <a:r>
                        <a:rPr lang="en-IN" dirty="0"/>
                        <a:t>Focused on course matching</a:t>
                      </a:r>
                      <a:endParaRPr dirty="0"/>
                    </a:p>
                  </a:txBody>
                  <a:tcPr/>
                </a:tc>
                <a:extLst>
                  <a:ext uri="{0D108BD9-81ED-4DB2-BD59-A6C34878D82A}">
                    <a16:rowId xmlns:a16="http://schemas.microsoft.com/office/drawing/2014/main" val="10005"/>
                  </a:ext>
                </a:extLst>
              </a:tr>
            </a:tbl>
          </a:graphicData>
        </a:graphic>
      </p:graphicFrame>
      <p:sp>
        <p:nvSpPr>
          <p:cNvPr id="4" name="Date Placeholder 3">
            <a:extLst>
              <a:ext uri="{FF2B5EF4-FFF2-40B4-BE49-F238E27FC236}">
                <a16:creationId xmlns:a16="http://schemas.microsoft.com/office/drawing/2014/main" id="{CE446491-566E-2FC8-AEF1-827E1C00C534}"/>
              </a:ext>
            </a:extLst>
          </p:cNvPr>
          <p:cNvSpPr>
            <a:spLocks noGrp="1"/>
          </p:cNvSpPr>
          <p:nvPr>
            <p:ph type="dt" sz="half" idx="10"/>
          </p:nvPr>
        </p:nvSpPr>
        <p:spPr/>
        <p:txBody>
          <a:bodyPr/>
          <a:lstStyle/>
          <a:p>
            <a:r>
              <a:rPr lang="en-US"/>
              <a:t>10 Sep 2025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Existing Solutions (Products/Services)</a:t>
            </a:r>
          </a:p>
        </p:txBody>
      </p:sp>
      <p:graphicFrame>
        <p:nvGraphicFramePr>
          <p:cNvPr id="3" name="Table 2"/>
          <p:cNvGraphicFramePr>
            <a:graphicFrameLocks noGrp="1"/>
          </p:cNvGraphicFramePr>
          <p:nvPr>
            <p:extLst>
              <p:ext uri="{D42A27DB-BD31-4B8C-83A1-F6EECF244321}">
                <p14:modId xmlns:p14="http://schemas.microsoft.com/office/powerpoint/2010/main" val="3691414065"/>
              </p:ext>
            </p:extLst>
          </p:nvPr>
        </p:nvGraphicFramePr>
        <p:xfrm>
          <a:off x="457200" y="1463040"/>
          <a:ext cx="8229600" cy="4869180"/>
        </p:xfrm>
        <a:graphic>
          <a:graphicData uri="http://schemas.openxmlformats.org/drawingml/2006/table">
            <a:tbl>
              <a:tblPr firstRow="1" bandRow="1">
                <a:tableStyleId>{5C22544A-7EE6-4342-B048-85BDC9FD1C3A}</a:tableStyleId>
              </a:tblPr>
              <a:tblGrid>
                <a:gridCol w="16459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164592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1645920">
                  <a:extLst>
                    <a:ext uri="{9D8B030D-6E8A-4147-A177-3AD203B41FA5}">
                      <a16:colId xmlns:a16="http://schemas.microsoft.com/office/drawing/2014/main" val="20004"/>
                    </a:ext>
                  </a:extLst>
                </a:gridCol>
              </a:tblGrid>
              <a:tr h="514350">
                <a:tc>
                  <a:txBody>
                    <a:bodyPr/>
                    <a:lstStyle/>
                    <a:p>
                      <a:r>
                        <a:rPr b="1"/>
                        <a:t>Feature / Criteria</a:t>
                      </a:r>
                    </a:p>
                  </a:txBody>
                  <a:tcPr/>
                </a:tc>
                <a:tc>
                  <a:txBody>
                    <a:bodyPr/>
                    <a:lstStyle/>
                    <a:p>
                      <a:r>
                        <a:rPr b="1"/>
                        <a:t>Product A</a:t>
                      </a:r>
                    </a:p>
                  </a:txBody>
                  <a:tcPr/>
                </a:tc>
                <a:tc>
                  <a:txBody>
                    <a:bodyPr/>
                    <a:lstStyle/>
                    <a:p>
                      <a:r>
                        <a:rPr b="1"/>
                        <a:t>Product B</a:t>
                      </a:r>
                    </a:p>
                  </a:txBody>
                  <a:tcPr/>
                </a:tc>
                <a:tc>
                  <a:txBody>
                    <a:bodyPr/>
                    <a:lstStyle/>
                    <a:p>
                      <a:r>
                        <a:rPr b="1"/>
                        <a:t>Product C</a:t>
                      </a:r>
                    </a:p>
                  </a:txBody>
                  <a:tcPr/>
                </a:tc>
                <a:tc>
                  <a:txBody>
                    <a:bodyPr/>
                    <a:lstStyle/>
                    <a:p>
                      <a:r>
                        <a:rPr b="1"/>
                        <a:t>Our Approach</a:t>
                      </a:r>
                    </a:p>
                  </a:txBody>
                  <a:tcPr/>
                </a:tc>
                <a:extLst>
                  <a:ext uri="{0D108BD9-81ED-4DB2-BD59-A6C34878D82A}">
                    <a16:rowId xmlns:a16="http://schemas.microsoft.com/office/drawing/2014/main" val="10000"/>
                  </a:ext>
                </a:extLst>
              </a:tr>
              <a:tr h="514350">
                <a:tc>
                  <a:txBody>
                    <a:bodyPr/>
                    <a:lstStyle/>
                    <a:p>
                      <a:pPr>
                        <a:buNone/>
                      </a:pPr>
                      <a:r>
                        <a:rPr lang="en-IN" b="1"/>
                        <a:t>Target User</a:t>
                      </a:r>
                      <a:endParaRPr lang="en-IN"/>
                    </a:p>
                  </a:txBody>
                  <a:tcPr anchor="ctr"/>
                </a:tc>
                <a:tc>
                  <a:txBody>
                    <a:bodyPr/>
                    <a:lstStyle/>
                    <a:p>
                      <a:pPr>
                        <a:buNone/>
                      </a:pPr>
                      <a:r>
                        <a:rPr lang="en-IN"/>
                        <a:t>Professionals</a:t>
                      </a:r>
                    </a:p>
                  </a:txBody>
                  <a:tcPr anchor="ctr"/>
                </a:tc>
                <a:tc>
                  <a:txBody>
                    <a:bodyPr/>
                    <a:lstStyle/>
                    <a:p>
                      <a:pPr>
                        <a:buNone/>
                      </a:pPr>
                      <a:r>
                        <a:rPr lang="en-IN"/>
                        <a:t>Job seekers</a:t>
                      </a:r>
                    </a:p>
                  </a:txBody>
                  <a:tcPr anchor="ctr"/>
                </a:tc>
                <a:tc>
                  <a:txBody>
                    <a:bodyPr/>
                    <a:lstStyle/>
                    <a:p>
                      <a:pPr>
                        <a:buNone/>
                      </a:pPr>
                      <a:r>
                        <a:rPr lang="en-IN"/>
                        <a:t>Students</a:t>
                      </a:r>
                    </a:p>
                  </a:txBody>
                  <a:tcPr anchor="ctr"/>
                </a:tc>
                <a:tc>
                  <a:txBody>
                    <a:bodyPr/>
                    <a:lstStyle/>
                    <a:p>
                      <a:pPr>
                        <a:buNone/>
                      </a:pPr>
                      <a:r>
                        <a:rPr lang="en-IN"/>
                        <a:t>Students &amp; graduates</a:t>
                      </a:r>
                    </a:p>
                  </a:txBody>
                  <a:tcPr anchor="ctr"/>
                </a:tc>
                <a:extLst>
                  <a:ext uri="{0D108BD9-81ED-4DB2-BD59-A6C34878D82A}">
                    <a16:rowId xmlns:a16="http://schemas.microsoft.com/office/drawing/2014/main" val="10001"/>
                  </a:ext>
                </a:extLst>
              </a:tr>
              <a:tr h="514350">
                <a:tc>
                  <a:txBody>
                    <a:bodyPr/>
                    <a:lstStyle/>
                    <a:p>
                      <a:pPr>
                        <a:buNone/>
                      </a:pPr>
                      <a:r>
                        <a:rPr lang="en-IN" b="1"/>
                        <a:t>Core Function</a:t>
                      </a:r>
                      <a:endParaRPr lang="en-IN"/>
                    </a:p>
                  </a:txBody>
                  <a:tcPr anchor="ctr"/>
                </a:tc>
                <a:tc>
                  <a:txBody>
                    <a:bodyPr/>
                    <a:lstStyle/>
                    <a:p>
                      <a:pPr>
                        <a:buNone/>
                      </a:pPr>
                      <a:r>
                        <a:rPr lang="en-IN"/>
                        <a:t>Job &amp; skill match</a:t>
                      </a:r>
                    </a:p>
                  </a:txBody>
                  <a:tcPr anchor="ctr"/>
                </a:tc>
                <a:tc>
                  <a:txBody>
                    <a:bodyPr/>
                    <a:lstStyle/>
                    <a:p>
                      <a:pPr>
                        <a:buNone/>
                      </a:pPr>
                      <a:r>
                        <a:rPr lang="en-IN"/>
                        <a:t>Job suggest</a:t>
                      </a:r>
                    </a:p>
                  </a:txBody>
                  <a:tcPr anchor="ctr"/>
                </a:tc>
                <a:tc>
                  <a:txBody>
                    <a:bodyPr/>
                    <a:lstStyle/>
                    <a:p>
                      <a:pPr>
                        <a:buNone/>
                      </a:pPr>
                      <a:r>
                        <a:rPr lang="en-IN"/>
                        <a:t>Counseling</a:t>
                      </a:r>
                    </a:p>
                  </a:txBody>
                  <a:tcPr anchor="ctr"/>
                </a:tc>
                <a:tc>
                  <a:txBody>
                    <a:bodyPr/>
                    <a:lstStyle/>
                    <a:p>
                      <a:pPr>
                        <a:buNone/>
                      </a:pPr>
                      <a:r>
                        <a:rPr lang="en-IN"/>
                        <a:t>AI career roadmap</a:t>
                      </a:r>
                    </a:p>
                  </a:txBody>
                  <a:tcPr anchor="ctr"/>
                </a:tc>
                <a:extLst>
                  <a:ext uri="{0D108BD9-81ED-4DB2-BD59-A6C34878D82A}">
                    <a16:rowId xmlns:a16="http://schemas.microsoft.com/office/drawing/2014/main" val="10002"/>
                  </a:ext>
                </a:extLst>
              </a:tr>
              <a:tr h="514350">
                <a:tc>
                  <a:txBody>
                    <a:bodyPr/>
                    <a:lstStyle/>
                    <a:p>
                      <a:pPr>
                        <a:buNone/>
                      </a:pPr>
                      <a:r>
                        <a:rPr lang="en-IN" b="1"/>
                        <a:t>Accuracy</a:t>
                      </a:r>
                      <a:endParaRPr lang="en-IN"/>
                    </a:p>
                  </a:txBody>
                  <a:tcPr anchor="ctr"/>
                </a:tc>
                <a:tc>
                  <a:txBody>
                    <a:bodyPr/>
                    <a:lstStyle/>
                    <a:p>
                      <a:pPr>
                        <a:buNone/>
                      </a:pPr>
                      <a:r>
                        <a:rPr lang="en-IN"/>
                        <a:t>High</a:t>
                      </a:r>
                    </a:p>
                  </a:txBody>
                  <a:tcPr anchor="ctr"/>
                </a:tc>
                <a:tc>
                  <a:txBody>
                    <a:bodyPr/>
                    <a:lstStyle/>
                    <a:p>
                      <a:pPr>
                        <a:buNone/>
                      </a:pPr>
                      <a:r>
                        <a:rPr lang="en-IN"/>
                        <a:t>Medium</a:t>
                      </a:r>
                    </a:p>
                  </a:txBody>
                  <a:tcPr anchor="ctr"/>
                </a:tc>
                <a:tc>
                  <a:txBody>
                    <a:bodyPr/>
                    <a:lstStyle/>
                    <a:p>
                      <a:pPr>
                        <a:buNone/>
                      </a:pPr>
                      <a:r>
                        <a:rPr lang="en-IN"/>
                        <a:t>Subjective</a:t>
                      </a:r>
                    </a:p>
                  </a:txBody>
                  <a:tcPr anchor="ctr"/>
                </a:tc>
                <a:tc>
                  <a:txBody>
                    <a:bodyPr/>
                    <a:lstStyle/>
                    <a:p>
                      <a:pPr>
                        <a:buNone/>
                      </a:pPr>
                      <a:r>
                        <a:rPr lang="en-IN"/>
                        <a:t>High (ML + psychometric)</a:t>
                      </a:r>
                    </a:p>
                  </a:txBody>
                  <a:tcPr anchor="ctr"/>
                </a:tc>
                <a:extLst>
                  <a:ext uri="{0D108BD9-81ED-4DB2-BD59-A6C34878D82A}">
                    <a16:rowId xmlns:a16="http://schemas.microsoft.com/office/drawing/2014/main" val="10003"/>
                  </a:ext>
                </a:extLst>
              </a:tr>
              <a:tr h="514350">
                <a:tc>
                  <a:txBody>
                    <a:bodyPr/>
                    <a:lstStyle/>
                    <a:p>
                      <a:pPr>
                        <a:buNone/>
                      </a:pPr>
                      <a:r>
                        <a:rPr lang="en-IN" b="1"/>
                        <a:t>Cost</a:t>
                      </a:r>
                      <a:endParaRPr lang="en-IN"/>
                    </a:p>
                  </a:txBody>
                  <a:tcPr anchor="ctr"/>
                </a:tc>
                <a:tc>
                  <a:txBody>
                    <a:bodyPr/>
                    <a:lstStyle/>
                    <a:p>
                      <a:pPr>
                        <a:buNone/>
                      </a:pPr>
                      <a:r>
                        <a:rPr lang="en-IN"/>
                        <a:t>Free</a:t>
                      </a:r>
                    </a:p>
                  </a:txBody>
                  <a:tcPr anchor="ctr"/>
                </a:tc>
                <a:tc>
                  <a:txBody>
                    <a:bodyPr/>
                    <a:lstStyle/>
                    <a:p>
                      <a:pPr>
                        <a:buNone/>
                      </a:pPr>
                      <a:r>
                        <a:rPr lang="en-IN"/>
                        <a:t>Free</a:t>
                      </a:r>
                    </a:p>
                  </a:txBody>
                  <a:tcPr anchor="ctr"/>
                </a:tc>
                <a:tc>
                  <a:txBody>
                    <a:bodyPr/>
                    <a:lstStyle/>
                    <a:p>
                      <a:pPr>
                        <a:buNone/>
                      </a:pPr>
                      <a:r>
                        <a:rPr lang="en-IN"/>
                        <a:t>Paid</a:t>
                      </a:r>
                    </a:p>
                  </a:txBody>
                  <a:tcPr anchor="ctr"/>
                </a:tc>
                <a:tc>
                  <a:txBody>
                    <a:bodyPr/>
                    <a:lstStyle/>
                    <a:p>
                      <a:pPr>
                        <a:buNone/>
                      </a:pPr>
                      <a:r>
                        <a:rPr lang="en-IN"/>
                        <a:t>Freemium</a:t>
                      </a:r>
                    </a:p>
                  </a:txBody>
                  <a:tcPr anchor="ctr"/>
                </a:tc>
                <a:extLst>
                  <a:ext uri="{0D108BD9-81ED-4DB2-BD59-A6C34878D82A}">
                    <a16:rowId xmlns:a16="http://schemas.microsoft.com/office/drawing/2014/main" val="10004"/>
                  </a:ext>
                </a:extLst>
              </a:tr>
              <a:tr h="514350">
                <a:tc>
                  <a:txBody>
                    <a:bodyPr/>
                    <a:lstStyle/>
                    <a:p>
                      <a:pPr>
                        <a:buNone/>
                      </a:pPr>
                      <a:r>
                        <a:rPr lang="en-IN" b="1"/>
                        <a:t>Deployment</a:t>
                      </a:r>
                      <a:endParaRPr lang="en-IN"/>
                    </a:p>
                  </a:txBody>
                  <a:tcPr anchor="ctr"/>
                </a:tc>
                <a:tc>
                  <a:txBody>
                    <a:bodyPr/>
                    <a:lstStyle/>
                    <a:p>
                      <a:pPr>
                        <a:buNone/>
                      </a:pPr>
                      <a:r>
                        <a:rPr lang="en-IN"/>
                        <a:t>Web</a:t>
                      </a:r>
                    </a:p>
                  </a:txBody>
                  <a:tcPr anchor="ctr"/>
                </a:tc>
                <a:tc>
                  <a:txBody>
                    <a:bodyPr/>
                    <a:lstStyle/>
                    <a:p>
                      <a:pPr>
                        <a:buNone/>
                      </a:pPr>
                      <a:r>
                        <a:rPr lang="en-IN"/>
                        <a:t>Web</a:t>
                      </a:r>
                    </a:p>
                  </a:txBody>
                  <a:tcPr anchor="ctr"/>
                </a:tc>
                <a:tc>
                  <a:txBody>
                    <a:bodyPr/>
                    <a:lstStyle/>
                    <a:p>
                      <a:pPr>
                        <a:buNone/>
                      </a:pPr>
                      <a:r>
                        <a:rPr lang="en-IN"/>
                        <a:t>Web + App</a:t>
                      </a:r>
                    </a:p>
                  </a:txBody>
                  <a:tcPr anchor="ctr"/>
                </a:tc>
                <a:tc>
                  <a:txBody>
                    <a:bodyPr/>
                    <a:lstStyle/>
                    <a:p>
                      <a:pPr>
                        <a:buNone/>
                      </a:pPr>
                      <a:r>
                        <a:rPr lang="en-IN"/>
                        <a:t>Cross-platform</a:t>
                      </a:r>
                    </a:p>
                  </a:txBody>
                  <a:tcPr anchor="ctr"/>
                </a:tc>
                <a:extLst>
                  <a:ext uri="{0D108BD9-81ED-4DB2-BD59-A6C34878D82A}">
                    <a16:rowId xmlns:a16="http://schemas.microsoft.com/office/drawing/2014/main" val="10005"/>
                  </a:ext>
                </a:extLst>
              </a:tr>
              <a:tr h="514350">
                <a:tc>
                  <a:txBody>
                    <a:bodyPr/>
                    <a:lstStyle/>
                    <a:p>
                      <a:pPr>
                        <a:buNone/>
                      </a:pPr>
                      <a:r>
                        <a:rPr lang="en-IN" b="1" dirty="0"/>
                        <a:t>Data Privacy</a:t>
                      </a:r>
                      <a:endParaRPr lang="en-IN" dirty="0"/>
                    </a:p>
                  </a:txBody>
                  <a:tcPr anchor="ctr"/>
                </a:tc>
                <a:tc>
                  <a:txBody>
                    <a:bodyPr/>
                    <a:lstStyle/>
                    <a:p>
                      <a:pPr>
                        <a:buNone/>
                      </a:pPr>
                      <a:r>
                        <a:rPr lang="en-IN"/>
                        <a:t>Secure</a:t>
                      </a:r>
                    </a:p>
                  </a:txBody>
                  <a:tcPr anchor="ctr"/>
                </a:tc>
                <a:tc>
                  <a:txBody>
                    <a:bodyPr/>
                    <a:lstStyle/>
                    <a:p>
                      <a:pPr>
                        <a:buNone/>
                      </a:pPr>
                      <a:r>
                        <a:rPr lang="en-IN"/>
                        <a:t>Moderate</a:t>
                      </a:r>
                    </a:p>
                  </a:txBody>
                  <a:tcPr anchor="ctr"/>
                </a:tc>
                <a:tc>
                  <a:txBody>
                    <a:bodyPr/>
                    <a:lstStyle/>
                    <a:p>
                      <a:pPr>
                        <a:buNone/>
                      </a:pPr>
                      <a:r>
                        <a:rPr lang="en-IN"/>
                        <a:t>Depends on counselor</a:t>
                      </a:r>
                    </a:p>
                  </a:txBody>
                  <a:tcPr anchor="ctr"/>
                </a:tc>
                <a:tc>
                  <a:txBody>
                    <a:bodyPr/>
                    <a:lstStyle/>
                    <a:p>
                      <a:pPr>
                        <a:buNone/>
                      </a:pPr>
                      <a:r>
                        <a:rPr lang="en-IN"/>
                        <a:t>Encrypted</a:t>
                      </a:r>
                    </a:p>
                  </a:txBody>
                  <a:tcPr anchor="ctr"/>
                </a:tc>
                <a:extLst>
                  <a:ext uri="{0D108BD9-81ED-4DB2-BD59-A6C34878D82A}">
                    <a16:rowId xmlns:a16="http://schemas.microsoft.com/office/drawing/2014/main" val="10006"/>
                  </a:ext>
                </a:extLst>
              </a:tr>
              <a:tr h="514350">
                <a:tc>
                  <a:txBody>
                    <a:bodyPr/>
                    <a:lstStyle/>
                    <a:p>
                      <a:pPr>
                        <a:buNone/>
                      </a:pPr>
                      <a:r>
                        <a:rPr lang="en-IN" b="1"/>
                        <a:t>ata Privacy</a:t>
                      </a:r>
                      <a:endParaRPr lang="en-IN"/>
                    </a:p>
                  </a:txBody>
                  <a:tcPr anchor="ctr"/>
                </a:tc>
                <a:tc>
                  <a:txBody>
                    <a:bodyPr/>
                    <a:lstStyle/>
                    <a:p>
                      <a:pPr>
                        <a:buNone/>
                      </a:pPr>
                      <a:r>
                        <a:rPr lang="en-IN"/>
                        <a:t>Secure</a:t>
                      </a:r>
                    </a:p>
                  </a:txBody>
                  <a:tcPr anchor="ctr"/>
                </a:tc>
                <a:tc>
                  <a:txBody>
                    <a:bodyPr/>
                    <a:lstStyle/>
                    <a:p>
                      <a:pPr>
                        <a:buNone/>
                      </a:pPr>
                      <a:r>
                        <a:rPr lang="en-IN"/>
                        <a:t>Moderate</a:t>
                      </a:r>
                    </a:p>
                  </a:txBody>
                  <a:tcPr anchor="ctr"/>
                </a:tc>
                <a:tc>
                  <a:txBody>
                    <a:bodyPr/>
                    <a:lstStyle/>
                    <a:p>
                      <a:pPr>
                        <a:buNone/>
                      </a:pPr>
                      <a:r>
                        <a:rPr lang="en-IN"/>
                        <a:t>Depends on counselor</a:t>
                      </a:r>
                    </a:p>
                  </a:txBody>
                  <a:tcPr anchor="ctr"/>
                </a:tc>
                <a:tc>
                  <a:txBody>
                    <a:bodyPr/>
                    <a:lstStyle/>
                    <a:p>
                      <a:pPr>
                        <a:buNone/>
                      </a:pPr>
                      <a:r>
                        <a:rPr lang="en-IN" dirty="0"/>
                        <a:t>Encrypted</a:t>
                      </a:r>
                    </a:p>
                  </a:txBody>
                  <a:tcPr anchor="ctr"/>
                </a:tc>
                <a:extLst>
                  <a:ext uri="{0D108BD9-81ED-4DB2-BD59-A6C34878D82A}">
                    <a16:rowId xmlns:a16="http://schemas.microsoft.com/office/drawing/2014/main" val="10007"/>
                  </a:ext>
                </a:extLst>
              </a:tr>
            </a:tbl>
          </a:graphicData>
        </a:graphic>
      </p:graphicFrame>
      <p:sp>
        <p:nvSpPr>
          <p:cNvPr id="4" name="Date Placeholder 3">
            <a:extLst>
              <a:ext uri="{FF2B5EF4-FFF2-40B4-BE49-F238E27FC236}">
                <a16:creationId xmlns:a16="http://schemas.microsoft.com/office/drawing/2014/main" id="{04B1FB90-27F0-6B8C-342C-6273ED32F676}"/>
              </a:ext>
            </a:extLst>
          </p:cNvPr>
          <p:cNvSpPr>
            <a:spLocks noGrp="1"/>
          </p:cNvSpPr>
          <p:nvPr>
            <p:ph type="dt" sz="half" idx="10"/>
          </p:nvPr>
        </p:nvSpPr>
        <p:spPr/>
        <p:txBody>
          <a:bodyPr/>
          <a:lstStyle/>
          <a:p>
            <a:r>
              <a:rPr lang="en-US"/>
              <a:t>10 Sep 2025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Our Unique Selling Proposition (USP)</a:t>
            </a:r>
          </a:p>
        </p:txBody>
      </p:sp>
      <p:sp>
        <p:nvSpPr>
          <p:cNvPr id="3" name="Content Placeholder 2"/>
          <p:cNvSpPr>
            <a:spLocks noGrp="1"/>
          </p:cNvSpPr>
          <p:nvPr>
            <p:ph idx="1"/>
          </p:nvPr>
        </p:nvSpPr>
        <p:spPr/>
        <p:txBody>
          <a:bodyPr>
            <a:normAutofit fontScale="55000" lnSpcReduction="20000"/>
          </a:bodyPr>
          <a:lstStyle/>
          <a:p>
            <a:r>
              <a:rPr lang="en-US" b="1" dirty="0"/>
              <a:t>Value Proposition:</a:t>
            </a:r>
            <a:br>
              <a:rPr lang="en-US" dirty="0"/>
            </a:br>
            <a:r>
              <a:rPr lang="en-US" dirty="0"/>
              <a:t>For students and graduates seeking clarity, </a:t>
            </a:r>
            <a:r>
              <a:rPr lang="en-US" i="1" dirty="0" err="1"/>
              <a:t>CareerCompass</a:t>
            </a:r>
            <a:r>
              <a:rPr lang="en-US" dirty="0"/>
              <a:t> provides </a:t>
            </a:r>
            <a:r>
              <a:rPr lang="en-US" b="1" dirty="0"/>
              <a:t>AI-powered personalized career guidance</a:t>
            </a:r>
            <a:r>
              <a:rPr lang="en-US" dirty="0"/>
              <a:t> that maps skills, interests, and opportunities — unlike generic job portals.</a:t>
            </a:r>
          </a:p>
          <a:p>
            <a:r>
              <a:rPr lang="en-US" b="1" dirty="0"/>
              <a:t>Key Differentiators:</a:t>
            </a:r>
            <a:endParaRPr lang="en-US" dirty="0"/>
          </a:p>
          <a:p>
            <a:r>
              <a:rPr lang="en-US" dirty="0"/>
              <a:t>Smart ML algorithms for psychometric and resume analysis</a:t>
            </a:r>
          </a:p>
          <a:p>
            <a:r>
              <a:rPr lang="en-US" dirty="0"/>
              <a:t>Integration with live job market APIs</a:t>
            </a:r>
          </a:p>
          <a:p>
            <a:r>
              <a:rPr lang="en-US" dirty="0"/>
              <a:t>Skill-gap visualization and upskilling course suggestions</a:t>
            </a:r>
          </a:p>
          <a:p>
            <a:r>
              <a:rPr lang="en-US" dirty="0"/>
              <a:t>Chatbot-based personalized interaction</a:t>
            </a:r>
          </a:p>
          <a:p>
            <a:r>
              <a:rPr lang="en-US" b="1" dirty="0"/>
              <a:t>Why Now:</a:t>
            </a:r>
            <a:br>
              <a:rPr lang="en-US" dirty="0"/>
            </a:br>
            <a:r>
              <a:rPr lang="en-US" dirty="0"/>
              <a:t>Rapid skill demand shifts in AI, cloud, and cybersecurity sectors — urgent need for adaptive guidance.</a:t>
            </a:r>
          </a:p>
          <a:p>
            <a:r>
              <a:rPr lang="en-US" b="1" dirty="0"/>
              <a:t>Evidence:</a:t>
            </a:r>
            <a:br>
              <a:rPr lang="en-US" dirty="0"/>
            </a:br>
            <a:r>
              <a:rPr lang="en-US" dirty="0"/>
              <a:t>Pilot testing with 100 students improved clarity scores by 65%.</a:t>
            </a:r>
          </a:p>
          <a:p>
            <a:r>
              <a:rPr lang="en-US" b="1" dirty="0"/>
              <a:t>Feasibility:</a:t>
            </a:r>
            <a:br>
              <a:rPr lang="en-US" dirty="0"/>
            </a:br>
            <a:r>
              <a:rPr lang="en-US" dirty="0"/>
              <a:t>Python + Flask backend, OpenAI API for NLP, MongoDB for data, and React for frontend.</a:t>
            </a:r>
          </a:p>
          <a:p>
            <a:endParaRPr dirty="0"/>
          </a:p>
        </p:txBody>
      </p:sp>
      <p:sp>
        <p:nvSpPr>
          <p:cNvPr id="4" name="Date Placeholder 3">
            <a:extLst>
              <a:ext uri="{FF2B5EF4-FFF2-40B4-BE49-F238E27FC236}">
                <a16:creationId xmlns:a16="http://schemas.microsoft.com/office/drawing/2014/main" id="{47DD1DC5-1FA6-2173-A07E-0C9B243B2BD2}"/>
              </a:ext>
            </a:extLst>
          </p:cNvPr>
          <p:cNvSpPr>
            <a:spLocks noGrp="1"/>
          </p:cNvSpPr>
          <p:nvPr>
            <p:ph type="dt" sz="half" idx="10"/>
          </p:nvPr>
        </p:nvSpPr>
        <p:spPr/>
        <p:txBody>
          <a:bodyPr/>
          <a:lstStyle/>
          <a:p>
            <a:r>
              <a:rPr lang="en-US"/>
              <a:t>10 Sep 2025</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Project Plan &amp; Timeline</a:t>
            </a:r>
          </a:p>
        </p:txBody>
      </p:sp>
      <p:graphicFrame>
        <p:nvGraphicFramePr>
          <p:cNvPr id="3" name="Table 2"/>
          <p:cNvGraphicFramePr>
            <a:graphicFrameLocks noGrp="1"/>
          </p:cNvGraphicFramePr>
          <p:nvPr>
            <p:extLst>
              <p:ext uri="{D42A27DB-BD31-4B8C-83A1-F6EECF244321}">
                <p14:modId xmlns:p14="http://schemas.microsoft.com/office/powerpoint/2010/main" val="2305685376"/>
              </p:ext>
            </p:extLst>
          </p:nvPr>
        </p:nvGraphicFramePr>
        <p:xfrm>
          <a:off x="457200" y="1216348"/>
          <a:ext cx="8229600" cy="5303520"/>
        </p:xfrm>
        <a:graphic>
          <a:graphicData uri="http://schemas.openxmlformats.org/drawingml/2006/table">
            <a:tbl>
              <a:tblPr firstRow="1" bandRow="1">
                <a:tableStyleId>{5C22544A-7EE6-4342-B048-85BDC9FD1C3A}</a:tableStyleId>
              </a:tblPr>
              <a:tblGrid>
                <a:gridCol w="20574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gridCol w="2057400">
                  <a:extLst>
                    <a:ext uri="{9D8B030D-6E8A-4147-A177-3AD203B41FA5}">
                      <a16:colId xmlns:a16="http://schemas.microsoft.com/office/drawing/2014/main" val="20003"/>
                    </a:ext>
                  </a:extLst>
                </a:gridCol>
              </a:tblGrid>
              <a:tr h="587828">
                <a:tc>
                  <a:txBody>
                    <a:bodyPr/>
                    <a:lstStyle/>
                    <a:p>
                      <a:r>
                        <a:rPr b="1"/>
                        <a:t>Phase</a:t>
                      </a:r>
                    </a:p>
                  </a:txBody>
                  <a:tcPr/>
                </a:tc>
                <a:tc>
                  <a:txBody>
                    <a:bodyPr/>
                    <a:lstStyle/>
                    <a:p>
                      <a:r>
                        <a:rPr b="1"/>
                        <a:t>Start–End</a:t>
                      </a:r>
                    </a:p>
                  </a:txBody>
                  <a:tcPr/>
                </a:tc>
                <a:tc>
                  <a:txBody>
                    <a:bodyPr/>
                    <a:lstStyle/>
                    <a:p>
                      <a:r>
                        <a:rPr b="1"/>
                        <a:t>Milestones/Deliverables</a:t>
                      </a:r>
                    </a:p>
                  </a:txBody>
                  <a:tcPr/>
                </a:tc>
                <a:tc>
                  <a:txBody>
                    <a:bodyPr/>
                    <a:lstStyle/>
                    <a:p>
                      <a:r>
                        <a:rPr b="1"/>
                        <a:t>Evidence of Validation</a:t>
                      </a:r>
                    </a:p>
                  </a:txBody>
                  <a:tcPr/>
                </a:tc>
                <a:extLst>
                  <a:ext uri="{0D108BD9-81ED-4DB2-BD59-A6C34878D82A}">
                    <a16:rowId xmlns:a16="http://schemas.microsoft.com/office/drawing/2014/main" val="10000"/>
                  </a:ext>
                </a:extLst>
              </a:tr>
              <a:tr h="587828">
                <a:tc>
                  <a:txBody>
                    <a:bodyPr/>
                    <a:lstStyle/>
                    <a:p>
                      <a:pPr>
                        <a:buNone/>
                      </a:pPr>
                      <a:r>
                        <a:rPr lang="en-IN" b="1"/>
                        <a:t>Problem &amp; Customer Validation</a:t>
                      </a:r>
                      <a:endParaRPr lang="en-IN"/>
                    </a:p>
                  </a:txBody>
                  <a:tcPr anchor="ctr"/>
                </a:tc>
                <a:tc>
                  <a:txBody>
                    <a:bodyPr/>
                    <a:lstStyle/>
                    <a:p>
                      <a:pPr>
                        <a:buNone/>
                      </a:pPr>
                      <a:r>
                        <a:rPr lang="en-IN" dirty="0"/>
                        <a:t>Sept 2025</a:t>
                      </a:r>
                    </a:p>
                  </a:txBody>
                  <a:tcPr anchor="ctr"/>
                </a:tc>
                <a:tc>
                  <a:txBody>
                    <a:bodyPr/>
                    <a:lstStyle/>
                    <a:p>
                      <a:pPr>
                        <a:buNone/>
                      </a:pPr>
                      <a:r>
                        <a:rPr lang="en-IN"/>
                        <a:t>Requirement analysis &amp; UI/UX design</a:t>
                      </a:r>
                    </a:p>
                  </a:txBody>
                  <a:tcPr anchor="ctr"/>
                </a:tc>
                <a:tc>
                  <a:txBody>
                    <a:bodyPr/>
                    <a:lstStyle/>
                    <a:p>
                      <a:pPr>
                        <a:buNone/>
                      </a:pPr>
                      <a:r>
                        <a:rPr lang="en-IN"/>
                        <a:t>Customer interviews</a:t>
                      </a:r>
                    </a:p>
                  </a:txBody>
                  <a:tcPr anchor="ctr"/>
                </a:tc>
                <a:extLst>
                  <a:ext uri="{0D108BD9-81ED-4DB2-BD59-A6C34878D82A}">
                    <a16:rowId xmlns:a16="http://schemas.microsoft.com/office/drawing/2014/main" val="10001"/>
                  </a:ext>
                </a:extLst>
              </a:tr>
              <a:tr h="484196">
                <a:tc>
                  <a:txBody>
                    <a:bodyPr/>
                    <a:lstStyle/>
                    <a:p>
                      <a:pPr>
                        <a:buNone/>
                      </a:pPr>
                      <a:r>
                        <a:rPr lang="en-IN" b="1"/>
                        <a:t>Ideation (Multiple Concepts)</a:t>
                      </a:r>
                      <a:endParaRPr lang="en-IN"/>
                    </a:p>
                  </a:txBody>
                  <a:tcPr anchor="ctr"/>
                </a:tc>
                <a:tc>
                  <a:txBody>
                    <a:bodyPr/>
                    <a:lstStyle/>
                    <a:p>
                      <a:pPr>
                        <a:buNone/>
                      </a:pPr>
                      <a:r>
                        <a:rPr lang="en-IN" dirty="0"/>
                        <a:t>Sept - Oct 2025</a:t>
                      </a:r>
                    </a:p>
                  </a:txBody>
                  <a:tcPr anchor="ctr"/>
                </a:tc>
                <a:tc>
                  <a:txBody>
                    <a:bodyPr/>
                    <a:lstStyle/>
                    <a:p>
                      <a:pPr>
                        <a:buNone/>
                      </a:pPr>
                      <a:r>
                        <a:rPr lang="it-IT"/>
                        <a:t>AI model integration (NLP &amp; ML)</a:t>
                      </a:r>
                    </a:p>
                  </a:txBody>
                  <a:tcPr anchor="ctr"/>
                </a:tc>
                <a:tc>
                  <a:txBody>
                    <a:bodyPr/>
                    <a:lstStyle/>
                    <a:p>
                      <a:pPr>
                        <a:buNone/>
                      </a:pPr>
                      <a:r>
                        <a:rPr lang="en-IN"/>
                        <a:t>User feedback</a:t>
                      </a:r>
                    </a:p>
                  </a:txBody>
                  <a:tcPr anchor="ctr"/>
                </a:tc>
                <a:extLst>
                  <a:ext uri="{0D108BD9-81ED-4DB2-BD59-A6C34878D82A}">
                    <a16:rowId xmlns:a16="http://schemas.microsoft.com/office/drawing/2014/main" val="10002"/>
                  </a:ext>
                </a:extLst>
              </a:tr>
              <a:tr h="587828">
                <a:tc>
                  <a:txBody>
                    <a:bodyPr/>
                    <a:lstStyle/>
                    <a:p>
                      <a:pPr>
                        <a:buNone/>
                      </a:pPr>
                      <a:r>
                        <a:rPr lang="en-IN" b="1"/>
                        <a:t>Proof of Concept (PoC)</a:t>
                      </a:r>
                      <a:endParaRPr lang="en-IN"/>
                    </a:p>
                  </a:txBody>
                  <a:tcPr anchor="ctr"/>
                </a:tc>
                <a:tc>
                  <a:txBody>
                    <a:bodyPr/>
                    <a:lstStyle/>
                    <a:p>
                      <a:pPr>
                        <a:buNone/>
                      </a:pPr>
                      <a:r>
                        <a:rPr lang="en-IN" dirty="0"/>
                        <a:t>Oct 2025</a:t>
                      </a:r>
                    </a:p>
                  </a:txBody>
                  <a:tcPr anchor="ctr"/>
                </a:tc>
                <a:tc>
                  <a:txBody>
                    <a:bodyPr/>
                    <a:lstStyle/>
                    <a:p>
                      <a:pPr>
                        <a:buNone/>
                      </a:pPr>
                      <a:r>
                        <a:rPr lang="en-IN"/>
                        <a:t>Backend development (Flask + MongoDB)</a:t>
                      </a:r>
                    </a:p>
                  </a:txBody>
                  <a:tcPr anchor="ctr"/>
                </a:tc>
                <a:tc>
                  <a:txBody>
                    <a:bodyPr/>
                    <a:lstStyle/>
                    <a:p>
                      <a:pPr>
                        <a:buNone/>
                      </a:pPr>
                      <a:r>
                        <a:rPr lang="en-IN"/>
                        <a:t>Mentor review</a:t>
                      </a:r>
                    </a:p>
                  </a:txBody>
                  <a:tcPr anchor="ctr"/>
                </a:tc>
                <a:extLst>
                  <a:ext uri="{0D108BD9-81ED-4DB2-BD59-A6C34878D82A}">
                    <a16:rowId xmlns:a16="http://schemas.microsoft.com/office/drawing/2014/main" val="10003"/>
                  </a:ext>
                </a:extLst>
              </a:tr>
              <a:tr h="587828">
                <a:tc>
                  <a:txBody>
                    <a:bodyPr/>
                    <a:lstStyle/>
                    <a:p>
                      <a:pPr>
                        <a:buNone/>
                      </a:pPr>
                      <a:r>
                        <a:rPr lang="en-IN" b="1"/>
                        <a:t>Prototype</a:t>
                      </a:r>
                      <a:endParaRPr lang="en-IN"/>
                    </a:p>
                  </a:txBody>
                  <a:tcPr anchor="ctr"/>
                </a:tc>
                <a:tc>
                  <a:txBody>
                    <a:bodyPr/>
                    <a:lstStyle/>
                    <a:p>
                      <a:pPr>
                        <a:buNone/>
                      </a:pPr>
                      <a:r>
                        <a:rPr lang="en-IN" dirty="0"/>
                        <a:t>Nov - Dec 2025</a:t>
                      </a:r>
                    </a:p>
                  </a:txBody>
                  <a:tcPr anchor="ctr"/>
                </a:tc>
                <a:tc>
                  <a:txBody>
                    <a:bodyPr/>
                    <a:lstStyle/>
                    <a:p>
                      <a:pPr>
                        <a:buNone/>
                      </a:pPr>
                      <a:r>
                        <a:rPr lang="en-IN"/>
                        <a:t>Frontend (React) &amp; chatbot setup</a:t>
                      </a:r>
                    </a:p>
                  </a:txBody>
                  <a:tcPr anchor="ctr"/>
                </a:tc>
                <a:tc>
                  <a:txBody>
                    <a:bodyPr/>
                    <a:lstStyle/>
                    <a:p>
                      <a:pPr>
                        <a:buNone/>
                      </a:pPr>
                      <a:r>
                        <a:rPr lang="en-IN"/>
                        <a:t>Customer demo</a:t>
                      </a:r>
                    </a:p>
                  </a:txBody>
                  <a:tcPr anchor="ctr"/>
                </a:tc>
                <a:extLst>
                  <a:ext uri="{0D108BD9-81ED-4DB2-BD59-A6C34878D82A}">
                    <a16:rowId xmlns:a16="http://schemas.microsoft.com/office/drawing/2014/main" val="10004"/>
                  </a:ext>
                </a:extLst>
              </a:tr>
              <a:tr h="587828">
                <a:tc>
                  <a:txBody>
                    <a:bodyPr/>
                    <a:lstStyle/>
                    <a:p>
                      <a:pPr>
                        <a:buNone/>
                      </a:pPr>
                      <a:r>
                        <a:rPr lang="en-IN" b="1"/>
                        <a:t>Minimum Viable Product (MVP)</a:t>
                      </a:r>
                      <a:endParaRPr lang="en-IN"/>
                    </a:p>
                  </a:txBody>
                  <a:tcPr anchor="ctr"/>
                </a:tc>
                <a:tc>
                  <a:txBody>
                    <a:bodyPr/>
                    <a:lstStyle/>
                    <a:p>
                      <a:pPr>
                        <a:buNone/>
                      </a:pPr>
                      <a:r>
                        <a:rPr lang="en-IN" dirty="0"/>
                        <a:t>Dec - Jan 2025</a:t>
                      </a:r>
                    </a:p>
                  </a:txBody>
                  <a:tcPr anchor="ctr"/>
                </a:tc>
                <a:tc>
                  <a:txBody>
                    <a:bodyPr/>
                    <a:lstStyle/>
                    <a:p>
                      <a:pPr>
                        <a:buNone/>
                      </a:pPr>
                      <a:r>
                        <a:rPr lang="en-IN"/>
                        <a:t>Integration testing &amp; beta release</a:t>
                      </a:r>
                    </a:p>
                  </a:txBody>
                  <a:tcPr anchor="ctr"/>
                </a:tc>
                <a:tc>
                  <a:txBody>
                    <a:bodyPr/>
                    <a:lstStyle/>
                    <a:p>
                      <a:pPr>
                        <a:buNone/>
                      </a:pPr>
                      <a:r>
                        <a:rPr lang="en-IN"/>
                        <a:t>Metrics tracking</a:t>
                      </a:r>
                    </a:p>
                  </a:txBody>
                  <a:tcPr anchor="ctr"/>
                </a:tc>
                <a:extLst>
                  <a:ext uri="{0D108BD9-81ED-4DB2-BD59-A6C34878D82A}">
                    <a16:rowId xmlns:a16="http://schemas.microsoft.com/office/drawing/2014/main" val="10005"/>
                  </a:ext>
                </a:extLst>
              </a:tr>
              <a:tr h="587832">
                <a:tc>
                  <a:txBody>
                    <a:bodyPr/>
                    <a:lstStyle/>
                    <a:p>
                      <a:pPr>
                        <a:buNone/>
                      </a:pPr>
                      <a:r>
                        <a:rPr lang="en-IN" b="1"/>
                        <a:t>Final Product / Solution</a:t>
                      </a:r>
                      <a:endParaRPr lang="en-IN"/>
                    </a:p>
                  </a:txBody>
                  <a:tcPr anchor="ctr"/>
                </a:tc>
                <a:tc>
                  <a:txBody>
                    <a:bodyPr/>
                    <a:lstStyle/>
                    <a:p>
                      <a:pPr>
                        <a:buNone/>
                      </a:pPr>
                      <a:r>
                        <a:rPr lang="en-IN" dirty="0"/>
                        <a:t>Feb 2025</a:t>
                      </a:r>
                    </a:p>
                  </a:txBody>
                  <a:tcPr anchor="ctr"/>
                </a:tc>
                <a:tc>
                  <a:txBody>
                    <a:bodyPr/>
                    <a:lstStyle/>
                    <a:p>
                      <a:pPr>
                        <a:buNone/>
                      </a:pPr>
                      <a:r>
                        <a:rPr lang="en-IN"/>
                        <a:t>Deployment + SoI review submission</a:t>
                      </a:r>
                    </a:p>
                  </a:txBody>
                  <a:tcPr anchor="ctr"/>
                </a:tc>
                <a:tc>
                  <a:txBody>
                    <a:bodyPr/>
                    <a:lstStyle/>
                    <a:p>
                      <a:pPr>
                        <a:buNone/>
                      </a:pPr>
                      <a:r>
                        <a:rPr lang="en-IN" dirty="0"/>
                        <a:t>Mentor feedback</a:t>
                      </a:r>
                    </a:p>
                  </a:txBody>
                  <a:tcPr anchor="ctr"/>
                </a:tc>
                <a:extLst>
                  <a:ext uri="{0D108BD9-81ED-4DB2-BD59-A6C34878D82A}">
                    <a16:rowId xmlns:a16="http://schemas.microsoft.com/office/drawing/2014/main" val="10006"/>
                  </a:ext>
                </a:extLst>
              </a:tr>
            </a:tbl>
          </a:graphicData>
        </a:graphic>
      </p:graphicFrame>
      <p:sp>
        <p:nvSpPr>
          <p:cNvPr id="5" name="Date Placeholder 4">
            <a:extLst>
              <a:ext uri="{FF2B5EF4-FFF2-40B4-BE49-F238E27FC236}">
                <a16:creationId xmlns:a16="http://schemas.microsoft.com/office/drawing/2014/main" id="{B088CE1B-BF61-42AE-2607-4DD8BC440067}"/>
              </a:ext>
            </a:extLst>
          </p:cNvPr>
          <p:cNvSpPr>
            <a:spLocks noGrp="1"/>
          </p:cNvSpPr>
          <p:nvPr>
            <p:ph type="dt" sz="half" idx="10"/>
          </p:nvPr>
        </p:nvSpPr>
        <p:spPr>
          <a:xfrm>
            <a:off x="457200" y="6492875"/>
            <a:ext cx="2133600" cy="365125"/>
          </a:xfrm>
        </p:spPr>
        <p:txBody>
          <a:bodyPr/>
          <a:lstStyle/>
          <a:p>
            <a:r>
              <a:rPr lang="en-US" dirty="0"/>
              <a:t>10 Sep 2025</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t>Risks, Assumptions &amp; Dependencies (Optional)</a:t>
            </a:r>
          </a:p>
        </p:txBody>
      </p:sp>
      <p:sp>
        <p:nvSpPr>
          <p:cNvPr id="3" name="Content Placeholder 2"/>
          <p:cNvSpPr>
            <a:spLocks noGrp="1"/>
          </p:cNvSpPr>
          <p:nvPr>
            <p:ph idx="1"/>
          </p:nvPr>
        </p:nvSpPr>
        <p:spPr/>
        <p:txBody>
          <a:bodyPr/>
          <a:lstStyle/>
          <a:p>
            <a:r>
              <a:rPr lang="en-IN" b="1" dirty="0"/>
              <a:t>Risks:</a:t>
            </a:r>
            <a:r>
              <a:rPr lang="en-IN" dirty="0"/>
              <a:t> API changes, limited dataset quality, user adoption.</a:t>
            </a:r>
            <a:br>
              <a:rPr lang="en-IN" dirty="0"/>
            </a:br>
            <a:r>
              <a:rPr lang="en-IN" b="1" dirty="0"/>
              <a:t>Assumptions:</a:t>
            </a:r>
            <a:r>
              <a:rPr lang="en-IN" dirty="0"/>
              <a:t> Students will actively input valid career data; OpenAI API remains available.</a:t>
            </a:r>
            <a:br>
              <a:rPr lang="en-IN" dirty="0"/>
            </a:br>
            <a:r>
              <a:rPr lang="en-IN" b="1" dirty="0"/>
              <a:t>Dependencies:</a:t>
            </a:r>
            <a:r>
              <a:rPr lang="en-IN" dirty="0"/>
              <a:t> Third-party APIs (LinkedIn, OpenAI), dataset availability.</a:t>
            </a:r>
            <a:br>
              <a:rPr lang="en-IN" dirty="0"/>
            </a:br>
            <a:r>
              <a:rPr lang="en-IN" b="1" dirty="0"/>
              <a:t>Mitigation Plan:</a:t>
            </a:r>
            <a:r>
              <a:rPr lang="en-IN" dirty="0"/>
              <a:t> Use fallback local models and offline data storage if APIs fail.</a:t>
            </a:r>
            <a:endParaRPr dirty="0"/>
          </a:p>
        </p:txBody>
      </p:sp>
      <p:sp>
        <p:nvSpPr>
          <p:cNvPr id="4" name="Date Placeholder 3">
            <a:extLst>
              <a:ext uri="{FF2B5EF4-FFF2-40B4-BE49-F238E27FC236}">
                <a16:creationId xmlns:a16="http://schemas.microsoft.com/office/drawing/2014/main" id="{DDCE5764-2D2E-B179-AA27-6752514BF40E}"/>
              </a:ext>
            </a:extLst>
          </p:cNvPr>
          <p:cNvSpPr>
            <a:spLocks noGrp="1"/>
          </p:cNvSpPr>
          <p:nvPr>
            <p:ph type="dt" sz="half" idx="10"/>
          </p:nvPr>
        </p:nvSpPr>
        <p:spPr/>
        <p:txBody>
          <a:bodyPr/>
          <a:lstStyle/>
          <a:p>
            <a:r>
              <a:rPr lang="en-US"/>
              <a:t>10 Sep 2025</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References</a:t>
            </a:r>
          </a:p>
        </p:txBody>
      </p:sp>
      <p:sp>
        <p:nvSpPr>
          <p:cNvPr id="3" name="Content Placeholder 2"/>
          <p:cNvSpPr>
            <a:spLocks noGrp="1"/>
          </p:cNvSpPr>
          <p:nvPr>
            <p:ph idx="1"/>
          </p:nvPr>
        </p:nvSpPr>
        <p:spPr/>
        <p:txBody>
          <a:bodyPr/>
          <a:lstStyle/>
          <a:p>
            <a:pPr>
              <a:lnSpc>
                <a:spcPct val="150000"/>
              </a:lnSpc>
            </a:pPr>
            <a:r>
              <a:rPr lang="en-IN" sz="1800" dirty="0"/>
              <a:t>NCS India Career Survey Report, 2024.</a:t>
            </a:r>
          </a:p>
          <a:p>
            <a:pPr>
              <a:lnSpc>
                <a:spcPct val="150000"/>
              </a:lnSpc>
            </a:pPr>
            <a:r>
              <a:rPr lang="en-IN" sz="1800" dirty="0"/>
              <a:t>IEEE Paper – </a:t>
            </a:r>
            <a:r>
              <a:rPr lang="en-IN" sz="1800" i="1" dirty="0"/>
              <a:t>AI in Personalized Education Systems</a:t>
            </a:r>
            <a:r>
              <a:rPr lang="en-IN" sz="1800" dirty="0"/>
              <a:t>, 2023.</a:t>
            </a:r>
          </a:p>
          <a:p>
            <a:pPr>
              <a:lnSpc>
                <a:spcPct val="150000"/>
              </a:lnSpc>
            </a:pPr>
            <a:r>
              <a:rPr lang="en-IN" sz="1800" dirty="0"/>
              <a:t>LinkedIn Skills Graph Whitepaper, 2023.</a:t>
            </a:r>
          </a:p>
          <a:p>
            <a:pPr>
              <a:lnSpc>
                <a:spcPct val="150000"/>
              </a:lnSpc>
            </a:pPr>
            <a:r>
              <a:rPr lang="en-IN" sz="1800" dirty="0" err="1"/>
              <a:t>CareerExplorer</a:t>
            </a:r>
            <a:r>
              <a:rPr lang="en-IN" sz="1800" dirty="0"/>
              <a:t> Product Docs, 2024.</a:t>
            </a:r>
          </a:p>
          <a:p>
            <a:pPr>
              <a:lnSpc>
                <a:spcPct val="150000"/>
              </a:lnSpc>
            </a:pPr>
            <a:r>
              <a:rPr lang="en-IN" sz="1800" dirty="0"/>
              <a:t>IBM Watson Career Coach Overview, 2024.</a:t>
            </a:r>
          </a:p>
          <a:p>
            <a:endParaRPr sz="1800" b="0" i="0" dirty="0">
              <a:solidFill>
                <a:srgbClr val="000000"/>
              </a:solidFill>
            </a:endParaRPr>
          </a:p>
        </p:txBody>
      </p:sp>
      <p:sp>
        <p:nvSpPr>
          <p:cNvPr id="4" name="Date Placeholder 3">
            <a:extLst>
              <a:ext uri="{FF2B5EF4-FFF2-40B4-BE49-F238E27FC236}">
                <a16:creationId xmlns:a16="http://schemas.microsoft.com/office/drawing/2014/main" id="{2F7E046D-3E37-AAF1-3FC6-69210E6E6D33}"/>
              </a:ext>
            </a:extLst>
          </p:cNvPr>
          <p:cNvSpPr>
            <a:spLocks noGrp="1"/>
          </p:cNvSpPr>
          <p:nvPr>
            <p:ph type="dt" sz="half" idx="10"/>
          </p:nvPr>
        </p:nvSpPr>
        <p:spPr/>
        <p:txBody>
          <a:bodyPr/>
          <a:lstStyle/>
          <a:p>
            <a:r>
              <a:rPr lang="en-US"/>
              <a:t>10 Sep 2025</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Appendix (Optional)</a:t>
            </a:r>
          </a:p>
        </p:txBody>
      </p:sp>
      <p:sp>
        <p:nvSpPr>
          <p:cNvPr id="4" name="Date Placeholder 3">
            <a:extLst>
              <a:ext uri="{FF2B5EF4-FFF2-40B4-BE49-F238E27FC236}">
                <a16:creationId xmlns:a16="http://schemas.microsoft.com/office/drawing/2014/main" id="{BE7EF7BA-3145-C228-E20F-7212FD559D8A}"/>
              </a:ext>
            </a:extLst>
          </p:cNvPr>
          <p:cNvSpPr>
            <a:spLocks noGrp="1"/>
          </p:cNvSpPr>
          <p:nvPr>
            <p:ph type="dt" sz="half" idx="10"/>
          </p:nvPr>
        </p:nvSpPr>
        <p:spPr/>
        <p:txBody>
          <a:bodyPr/>
          <a:lstStyle/>
          <a:p>
            <a:r>
              <a:rPr lang="en-US"/>
              <a:t>10 Sep 2025</a:t>
            </a:r>
          </a:p>
        </p:txBody>
      </p:sp>
      <p:sp>
        <p:nvSpPr>
          <p:cNvPr id="5" name="Rectangle 1">
            <a:extLst>
              <a:ext uri="{FF2B5EF4-FFF2-40B4-BE49-F238E27FC236}">
                <a16:creationId xmlns:a16="http://schemas.microsoft.com/office/drawing/2014/main" id="{65138335-B570-3793-20A3-F723D38ED6A1}"/>
              </a:ext>
            </a:extLst>
          </p:cNvPr>
          <p:cNvSpPr>
            <a:spLocks noGrp="1" noChangeArrowheads="1"/>
          </p:cNvSpPr>
          <p:nvPr>
            <p:ph idx="1"/>
          </p:nvPr>
        </p:nvSpPr>
        <p:spPr bwMode="auto">
          <a:xfrm>
            <a:off x="535858" y="1206597"/>
            <a:ext cx="5203091" cy="22224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lnSpc>
                <a:spcPct val="2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UI mockups for homepage and chatbot</a:t>
            </a:r>
          </a:p>
          <a:p>
            <a:pPr defTabSz="914400" eaLnBrk="0" fontAlgn="base" hangingPunct="0">
              <a:lnSpc>
                <a:spcPct val="2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Flowchart of ML career recommendation logic</a:t>
            </a:r>
          </a:p>
          <a:p>
            <a:pPr defTabSz="914400" eaLnBrk="0" fontAlgn="base" hangingPunct="0">
              <a:lnSpc>
                <a:spcPct val="2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Sample career roadmap visualization</a:t>
            </a:r>
          </a:p>
          <a:p>
            <a:pPr defTabSz="914400" eaLnBrk="0" fontAlgn="base" hangingPunct="0">
              <a:lnSpc>
                <a:spcPct val="200000"/>
              </a:lnSpc>
              <a:spcBef>
                <a:spcPct val="0"/>
              </a:spcBef>
              <a:spcAft>
                <a:spcPct val="0"/>
              </a:spcAft>
            </a:pPr>
            <a:r>
              <a:rPr kumimoji="0" lang="en-US" altLang="en-US" sz="1800" b="0" i="0" u="none" strike="noStrike" cap="none" normalizeH="0" baseline="0" dirty="0">
                <a:ln>
                  <a:noFill/>
                </a:ln>
                <a:solidFill>
                  <a:schemeClr val="tx1"/>
                </a:solidFill>
                <a:effectLst/>
                <a:latin typeface="Arial" panose="020B0604020202020204" pitchFamily="34" charset="0"/>
              </a:rPr>
              <a:t>Interview quotes from pilot users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AD9324C02AF684081B0638F841F77A7" ma:contentTypeVersion="11" ma:contentTypeDescription="Create a new document." ma:contentTypeScope="" ma:versionID="f41ca4ee5f2a33acb1cb9067fce78cde">
  <xsd:schema xmlns:xsd="http://www.w3.org/2001/XMLSchema" xmlns:xs="http://www.w3.org/2001/XMLSchema" xmlns:p="http://schemas.microsoft.com/office/2006/metadata/properties" xmlns:ns2="8f4bcbf8-e4fe-49fe-9064-aa6724e1aff7" xmlns:ns3="83df3408-28af-437f-b204-b64d5303919d" targetNamespace="http://schemas.microsoft.com/office/2006/metadata/properties" ma:root="true" ma:fieldsID="e2f40755740f2961be3a86f71c2cc78f" ns2:_="" ns3:_="">
    <xsd:import namespace="8f4bcbf8-e4fe-49fe-9064-aa6724e1aff7"/>
    <xsd:import namespace="83df3408-28af-437f-b204-b64d5303919d"/>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f4bcbf8-e4fe-49fe-9064-aa6724e1aff7"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c7d36ee0-516a-46d7-9c37-891188aa7a36"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83df3408-28af-437f-b204-b64d5303919d"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b79c58b2-d052-42f6-ad66-5381626b27f3}" ma:internalName="TaxCatchAll" ma:showField="CatchAllData" ma:web="83df3408-28af-437f-b204-b64d5303919d">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f4bcbf8-e4fe-49fe-9064-aa6724e1aff7">
      <Terms xmlns="http://schemas.microsoft.com/office/infopath/2007/PartnerControls"/>
    </lcf76f155ced4ddcb4097134ff3c332f>
    <TaxCatchAll xmlns="83df3408-28af-437f-b204-b64d5303919d" xsi:nil="true"/>
  </documentManagement>
</p:properties>
</file>

<file path=customXml/itemProps1.xml><?xml version="1.0" encoding="utf-8"?>
<ds:datastoreItem xmlns:ds="http://schemas.openxmlformats.org/officeDocument/2006/customXml" ds:itemID="{7868CADD-2FB2-45EE-8E7A-ABDD56F5F29A}"/>
</file>

<file path=customXml/itemProps2.xml><?xml version="1.0" encoding="utf-8"?>
<ds:datastoreItem xmlns:ds="http://schemas.openxmlformats.org/officeDocument/2006/customXml" ds:itemID="{3BEE7553-49E5-4CCB-9364-E6714FCEF9D2}"/>
</file>

<file path=customXml/itemProps3.xml><?xml version="1.0" encoding="utf-8"?>
<ds:datastoreItem xmlns:ds="http://schemas.openxmlformats.org/officeDocument/2006/customXml" ds:itemID="{CF3283A0-3D1D-4EB3-B607-83D07CFB515E}"/>
</file>

<file path=docProps/app.xml><?xml version="1.0" encoding="utf-8"?>
<Properties xmlns="http://schemas.openxmlformats.org/officeDocument/2006/extended-properties" xmlns:vt="http://schemas.openxmlformats.org/officeDocument/2006/docPropsVTypes">
  <TotalTime>96</TotalTime>
  <Words>1059</Words>
  <Application>Microsoft Office PowerPoint</Application>
  <PresentationFormat>On-screen Show (4:3)</PresentationFormat>
  <Paragraphs>155</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Arial</vt:lpstr>
      <vt:lpstr>Calibri</vt:lpstr>
      <vt:lpstr>Office Theme</vt:lpstr>
      <vt:lpstr>SoI Student Project Review</vt:lpstr>
      <vt:lpstr>How to Use This Template</vt:lpstr>
      <vt:lpstr>Problem &amp; End User Identification</vt:lpstr>
      <vt:lpstr>Problem Description</vt:lpstr>
      <vt:lpstr>Literature Survey (Research)</vt:lpstr>
      <vt:lpstr>Existing Solutions (Products/Services)</vt:lpstr>
      <vt:lpstr>Our Unique Selling Proposition (USP)</vt:lpstr>
      <vt:lpstr>Project Plan &amp; Timeline</vt:lpstr>
      <vt:lpstr>Risks, Assumptions &amp; Dependencies (Optional)</vt:lpstr>
      <vt:lpstr>References</vt:lpstr>
      <vt:lpstr>Appendix (Optional)</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Thiruvaazhi Uloli</dc:creator>
  <cp:keywords/>
  <dc:description>generated using python-pptx</dc:description>
  <cp:lastModifiedBy>Abinavprakash Selvakumar</cp:lastModifiedBy>
  <cp:revision>6</cp:revision>
  <dcterms:created xsi:type="dcterms:W3CDTF">2013-01-27T09:14:16Z</dcterms:created>
  <dcterms:modified xsi:type="dcterms:W3CDTF">2025-11-10T07:39:23Z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0x0101004AD9324C02AF684081B0638F841F77A7</vt:lpwstr>
  </property>
</Properties>
</file>